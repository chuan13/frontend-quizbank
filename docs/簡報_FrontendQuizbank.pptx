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1" r:id="rId16"/>
    <p:sldId id="272" r:id="rId1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0" d="100"/>
          <a:sy n="110" d="100"/>
        </p:scale>
        <p:origin x="59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8602062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12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32720" y="0"/>
            <a:ext cx="1856232" cy="6858000"/>
          </a:xfrm>
          <a:prstGeom prst="rect">
            <a:avLst/>
          </a:prstGeom>
          <a:solidFill>
            <a:srgbClr val="1A1A2E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" name="Shape 1"/>
          <p:cNvSpPr/>
          <p:nvPr/>
        </p:nvSpPr>
        <p:spPr>
          <a:xfrm>
            <a:off x="10835640" y="914400"/>
            <a:ext cx="868680" cy="868680"/>
          </a:xfrm>
          <a:prstGeom prst="roundRect">
            <a:avLst>
              <a:gd name="adj" fmla="val 16842"/>
            </a:avLst>
          </a:prstGeom>
          <a:solidFill>
            <a:srgbClr val="24243B"/>
          </a:solidFill>
          <a:ln w="12700">
            <a:solidFill>
              <a:srgbClr val="3A3A55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" name="Text 2"/>
          <p:cNvSpPr/>
          <p:nvPr/>
        </p:nvSpPr>
        <p:spPr>
          <a:xfrm>
            <a:off x="10835640" y="91440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dirty="0">
                <a:solidFill>
                  <a:srgbClr val="000000"/>
                </a:solidFill>
              </a:rPr>
              <a:t>📝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10835640" y="2240280"/>
            <a:ext cx="868680" cy="868680"/>
          </a:xfrm>
          <a:prstGeom prst="roundRect">
            <a:avLst>
              <a:gd name="adj" fmla="val 16842"/>
            </a:avLst>
          </a:prstGeom>
          <a:solidFill>
            <a:srgbClr val="24243B"/>
          </a:solidFill>
          <a:ln w="12700">
            <a:solidFill>
              <a:srgbClr val="3A3A55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6" name="Text 4"/>
          <p:cNvSpPr/>
          <p:nvPr/>
        </p:nvSpPr>
        <p:spPr>
          <a:xfrm>
            <a:off x="10835640" y="22402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dirty="0">
                <a:solidFill>
                  <a:srgbClr val="000000"/>
                </a:solidFill>
              </a:rPr>
              <a:t>📚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10835640" y="3566160"/>
            <a:ext cx="868680" cy="868680"/>
          </a:xfrm>
          <a:prstGeom prst="roundRect">
            <a:avLst>
              <a:gd name="adj" fmla="val 16842"/>
            </a:avLst>
          </a:prstGeom>
          <a:solidFill>
            <a:srgbClr val="24243B"/>
          </a:solidFill>
          <a:ln w="12700">
            <a:solidFill>
              <a:srgbClr val="3A3A55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8" name="Text 6"/>
          <p:cNvSpPr/>
          <p:nvPr/>
        </p:nvSpPr>
        <p:spPr>
          <a:xfrm>
            <a:off x="10835640" y="356616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dirty="0">
                <a:solidFill>
                  <a:srgbClr val="000000"/>
                </a:solidFill>
              </a:rPr>
              <a:t>📥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10835640" y="4892040"/>
            <a:ext cx="868680" cy="868680"/>
          </a:xfrm>
          <a:prstGeom prst="roundRect">
            <a:avLst>
              <a:gd name="adj" fmla="val 16842"/>
            </a:avLst>
          </a:prstGeom>
          <a:solidFill>
            <a:srgbClr val="24243B"/>
          </a:solidFill>
          <a:ln w="12700">
            <a:solidFill>
              <a:srgbClr val="3A3A55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0" name="Text 8"/>
          <p:cNvSpPr/>
          <p:nvPr/>
        </p:nvSpPr>
        <p:spPr>
          <a:xfrm>
            <a:off x="10835640" y="489204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dirty="0">
                <a:solidFill>
                  <a:srgbClr val="000000"/>
                </a:solidFill>
              </a:rPr>
              <a:t>⚙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822960" y="13716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kern="0" spc="200">
                <a:solidFill>
                  <a:srgbClr val="64B5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FINAL PROJECT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777240" y="1828800"/>
            <a:ext cx="9144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b="1" dirty="0">
                <a:solidFill>
                  <a:srgbClr val="ECEF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Frontend Quizbank</a:t>
            </a:r>
            <a:endParaRPr lang="en-US" sz="5400" dirty="0"/>
          </a:p>
        </p:txBody>
      </p:sp>
      <p:sp>
        <p:nvSpPr>
          <p:cNvPr id="15" name="Text 13"/>
          <p:cNvSpPr/>
          <p:nvPr/>
        </p:nvSpPr>
        <p:spPr>
          <a:xfrm>
            <a:off x="822960" y="297180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64B5F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前端題庫刷題系統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822960" y="370332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純前端  ·  IndexedDB 本機資料庫  ·  單頁應用（SPA）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841248" y="4526280"/>
            <a:ext cx="8686800" cy="0"/>
          </a:xfrm>
          <a:prstGeom prst="line">
            <a:avLst/>
          </a:prstGeom>
          <a:noFill/>
          <a:ln w="12700">
            <a:solidFill>
              <a:srgbClr val="3A3A55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8" name="Text 16"/>
          <p:cNvSpPr/>
          <p:nvPr/>
        </p:nvSpPr>
        <p:spPr>
          <a:xfrm>
            <a:off x="822960" y="47091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zh-TW" altLang="en-US" sz="1400" dirty="0">
                <a:solidFill>
                  <a:srgbClr val="ECEFF4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第一組</a:t>
            </a:r>
            <a:r>
              <a:rPr lang="en-US" sz="1400" dirty="0">
                <a:solidFill>
                  <a:srgbClr val="ECEFF4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    </a:t>
            </a:r>
            <a:r>
              <a:rPr lang="zh-TW" altLang="en-US" sz="1400" dirty="0">
                <a:solidFill>
                  <a:srgbClr val="9AA0B4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組員：</a:t>
            </a:r>
            <a:r>
              <a:rPr lang="zh-TW" altLang="zh-TW" sz="1400" dirty="0">
                <a:solidFill>
                  <a:srgbClr val="9AA0B4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Calibri" pitchFamily="34" charset="-120"/>
              </a:rPr>
              <a:t>簡嘉佑、石驥惟、李詮彥、邱美綺</a:t>
            </a:r>
            <a:endParaRPr lang="en-US" sz="1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822960" y="51206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 err="1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線上</a:t>
            </a:r>
            <a:r>
              <a:rPr lang="zh-TW" altLang="en-US" sz="13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試用</a:t>
            </a:r>
            <a:r>
              <a:rPr lang="en-US" sz="13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</a:t>
            </a:r>
            <a:r>
              <a:rPr lang="en-US" sz="1300" dirty="0">
                <a:solidFill>
                  <a:srgbClr val="64B5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https://chuan13.github.io/frontend-</a:t>
            </a:r>
            <a:r>
              <a:rPr lang="en-US" sz="1300" dirty="0" err="1">
                <a:solidFill>
                  <a:srgbClr val="64B5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quizbank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46304" cy="384048"/>
          </a:xfrm>
          <a:prstGeom prst="rect">
            <a:avLst/>
          </a:prstGeom>
          <a:solidFill>
            <a:srgbClr val="64B5F6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" name="Text 1"/>
          <p:cNvSpPr/>
          <p:nvPr/>
        </p:nvSpPr>
        <p:spPr>
          <a:xfrm>
            <a:off x="777240" y="45720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ECEFF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報告大綱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1024128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64B5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AGENDA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40080" y="1600200"/>
            <a:ext cx="5349240" cy="1188720"/>
          </a:xfrm>
          <a:prstGeom prst="roundRect">
            <a:avLst>
              <a:gd name="adj" fmla="val 6154"/>
            </a:avLst>
          </a:prstGeom>
          <a:solidFill>
            <a:srgbClr val="24243B"/>
          </a:solidFill>
          <a:ln w="12700">
            <a:solidFill>
              <a:srgbClr val="3A3A55"/>
            </a:solidFill>
            <a:prstDash val="solid"/>
          </a:ln>
          <a:effectLst>
            <a:outerShdw blurRad="101600" dist="38100" dir="54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6" name="Text 4"/>
          <p:cNvSpPr/>
          <p:nvPr/>
        </p:nvSpPr>
        <p:spPr>
          <a:xfrm>
            <a:off x="822960" y="169164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64B5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1965960" y="1801368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ECEFF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系統簡介與目標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965960" y="2258568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我們解決什麼問題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263640" y="1600200"/>
            <a:ext cx="5349240" cy="1188720"/>
          </a:xfrm>
          <a:prstGeom prst="roundRect">
            <a:avLst>
              <a:gd name="adj" fmla="val 6154"/>
            </a:avLst>
          </a:prstGeom>
          <a:solidFill>
            <a:srgbClr val="24243B"/>
          </a:solidFill>
          <a:ln w="12700">
            <a:solidFill>
              <a:srgbClr val="3A3A55"/>
            </a:solidFill>
            <a:prstDash val="solid"/>
          </a:ln>
          <a:effectLst>
            <a:outerShdw blurRad="101600" dist="38100" dir="54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10" name="Text 8"/>
          <p:cNvSpPr/>
          <p:nvPr/>
        </p:nvSpPr>
        <p:spPr>
          <a:xfrm>
            <a:off x="6446520" y="169164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64B5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4000" dirty="0"/>
          </a:p>
        </p:txBody>
      </p:sp>
      <p:sp>
        <p:nvSpPr>
          <p:cNvPr id="11" name="Text 9"/>
          <p:cNvSpPr/>
          <p:nvPr/>
        </p:nvSpPr>
        <p:spPr>
          <a:xfrm>
            <a:off x="7589520" y="1801368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ECEFF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系統需求規格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7589520" y="2258568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五大需求項目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" y="3017520"/>
            <a:ext cx="5349240" cy="1188720"/>
          </a:xfrm>
          <a:prstGeom prst="roundRect">
            <a:avLst>
              <a:gd name="adj" fmla="val 6154"/>
            </a:avLst>
          </a:prstGeom>
          <a:solidFill>
            <a:srgbClr val="24243B"/>
          </a:solidFill>
          <a:ln w="12700">
            <a:solidFill>
              <a:srgbClr val="3A3A55"/>
            </a:solidFill>
            <a:prstDash val="solid"/>
          </a:ln>
          <a:effectLst>
            <a:outerShdw blurRad="101600" dist="38100" dir="54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14" name="Text 12"/>
          <p:cNvSpPr/>
          <p:nvPr/>
        </p:nvSpPr>
        <p:spPr>
          <a:xfrm>
            <a:off x="822960" y="310896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64B5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4000" dirty="0"/>
          </a:p>
        </p:txBody>
      </p:sp>
      <p:sp>
        <p:nvSpPr>
          <p:cNvPr id="15" name="Text 13"/>
          <p:cNvSpPr/>
          <p:nvPr/>
        </p:nvSpPr>
        <p:spPr>
          <a:xfrm>
            <a:off x="1965960" y="3218688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ECEFF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功能展示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965960" y="3675888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四大模組（分組分工）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263640" y="3017520"/>
            <a:ext cx="5349240" cy="1188720"/>
          </a:xfrm>
          <a:prstGeom prst="roundRect">
            <a:avLst>
              <a:gd name="adj" fmla="val 6154"/>
            </a:avLst>
          </a:prstGeom>
          <a:solidFill>
            <a:srgbClr val="24243B"/>
          </a:solidFill>
          <a:ln w="12700">
            <a:solidFill>
              <a:srgbClr val="3A3A55"/>
            </a:solidFill>
            <a:prstDash val="solid"/>
          </a:ln>
          <a:effectLst>
            <a:outerShdw blurRad="101600" dist="38100" dir="54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18" name="Text 16"/>
          <p:cNvSpPr/>
          <p:nvPr/>
        </p:nvSpPr>
        <p:spPr>
          <a:xfrm>
            <a:off x="6446520" y="310896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64B5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4000" dirty="0"/>
          </a:p>
        </p:txBody>
      </p:sp>
      <p:sp>
        <p:nvSpPr>
          <p:cNvPr id="19" name="Text 17"/>
          <p:cNvSpPr/>
          <p:nvPr/>
        </p:nvSpPr>
        <p:spPr>
          <a:xfrm>
            <a:off x="7589520" y="3218688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ECEFF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技術架構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7589520" y="3675888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 · IndexedDB · 模組化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40080" y="4434840"/>
            <a:ext cx="5349240" cy="1188720"/>
          </a:xfrm>
          <a:prstGeom prst="roundRect">
            <a:avLst>
              <a:gd name="adj" fmla="val 6154"/>
            </a:avLst>
          </a:prstGeom>
          <a:solidFill>
            <a:srgbClr val="24243B"/>
          </a:solidFill>
          <a:ln w="12700">
            <a:solidFill>
              <a:srgbClr val="3A3A55"/>
            </a:solidFill>
            <a:prstDash val="solid"/>
          </a:ln>
          <a:effectLst>
            <a:outerShdw blurRad="101600" dist="38100" dir="54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22" name="Text 20"/>
          <p:cNvSpPr/>
          <p:nvPr/>
        </p:nvSpPr>
        <p:spPr>
          <a:xfrm>
            <a:off x="822960" y="452628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64B5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4000" dirty="0"/>
          </a:p>
        </p:txBody>
      </p:sp>
      <p:sp>
        <p:nvSpPr>
          <p:cNvPr id="23" name="Text 21"/>
          <p:cNvSpPr/>
          <p:nvPr/>
        </p:nvSpPr>
        <p:spPr>
          <a:xfrm>
            <a:off x="1965960" y="4636008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ECEFF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系統設計模型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965960" y="5093208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DFD · Use Case · Sequence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263640" y="4434840"/>
            <a:ext cx="5349240" cy="1188720"/>
          </a:xfrm>
          <a:prstGeom prst="roundRect">
            <a:avLst>
              <a:gd name="adj" fmla="val 6154"/>
            </a:avLst>
          </a:prstGeom>
          <a:solidFill>
            <a:srgbClr val="24243B"/>
          </a:solidFill>
          <a:ln w="12700">
            <a:solidFill>
              <a:srgbClr val="3A3A55"/>
            </a:solidFill>
            <a:prstDash val="solid"/>
          </a:ln>
          <a:effectLst>
            <a:outerShdw blurRad="101600" dist="38100" dir="54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26" name="Text 24"/>
          <p:cNvSpPr/>
          <p:nvPr/>
        </p:nvSpPr>
        <p:spPr>
          <a:xfrm>
            <a:off x="6446520" y="452628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64B5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4000" dirty="0"/>
          </a:p>
        </p:txBody>
      </p:sp>
      <p:sp>
        <p:nvSpPr>
          <p:cNvPr id="27" name="Text 25"/>
          <p:cNvSpPr/>
          <p:nvPr/>
        </p:nvSpPr>
        <p:spPr>
          <a:xfrm>
            <a:off x="7589520" y="4636008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ECEFF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資安、部署與成果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7589520" y="5093208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取捨與總結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548640" y="643737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 Quizbank ｜ 期末分組報告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11338560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0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46304" cy="384048"/>
          </a:xfrm>
          <a:prstGeom prst="rect">
            <a:avLst/>
          </a:prstGeom>
          <a:solidFill>
            <a:srgbClr val="64B5F6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" name="Text 1"/>
          <p:cNvSpPr/>
          <p:nvPr/>
        </p:nvSpPr>
        <p:spPr>
          <a:xfrm>
            <a:off x="777240" y="45720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ECEFF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系統簡介與目標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1024128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64B5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OVERVIEW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40080" y="1600200"/>
            <a:ext cx="5212080" cy="4480560"/>
          </a:xfrm>
          <a:prstGeom prst="roundRect">
            <a:avLst>
              <a:gd name="adj" fmla="val 1633"/>
            </a:avLst>
          </a:prstGeom>
          <a:solidFill>
            <a:srgbClr val="24243B"/>
          </a:solidFill>
          <a:ln w="12700">
            <a:solidFill>
              <a:srgbClr val="3A3A55"/>
            </a:solidFill>
            <a:prstDash val="solid"/>
          </a:ln>
          <a:effectLst>
            <a:outerShdw blurRad="101600" dist="38100" dir="54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6" name="Text 4"/>
          <p:cNvSpPr/>
          <p:nvPr/>
        </p:nvSpPr>
        <p:spPr>
          <a:xfrm>
            <a:off x="914400" y="178308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B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📌  我們解決的問題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914400" y="2331720"/>
            <a:ext cx="466344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市面刷題工具常需註冊、連網或付費</a:t>
            </a:r>
            <a:endParaRPr lang="en-US" sz="14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自建題庫逐題輸入耗時、難維護</a:t>
            </a:r>
            <a:endParaRPr lang="en-US" sz="14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錯題複習功能往往不夠彈性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14400" y="420624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81C78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🎯  我們的解法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914400" y="4754880"/>
            <a:ext cx="466344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純前端、免後端，開啟即用</a:t>
            </a:r>
            <a:endParaRPr lang="en-US" sz="14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 一鍵批次匯入題庫</a:t>
            </a:r>
            <a:endParaRPr lang="en-US" sz="14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資料存本機 IndexedDB，不外流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172200" y="1600200"/>
            <a:ext cx="5349240" cy="1325880"/>
          </a:xfrm>
          <a:prstGeom prst="roundRect">
            <a:avLst>
              <a:gd name="adj" fmla="val 5517"/>
            </a:avLst>
          </a:prstGeom>
          <a:solidFill>
            <a:srgbClr val="2C2C46"/>
          </a:solidFill>
          <a:ln w="12700">
            <a:solidFill>
              <a:srgbClr val="3A3A55"/>
            </a:solidFill>
            <a:prstDash val="solid"/>
          </a:ln>
          <a:effectLst>
            <a:outerShdw blurRad="101600" dist="38100" dir="54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11" name="Text 9"/>
          <p:cNvSpPr/>
          <p:nvPr/>
        </p:nvSpPr>
        <p:spPr>
          <a:xfrm>
            <a:off x="6446520" y="1764792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64B5F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多模式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8229600" y="1801368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ECEFF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出題策略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8229600" y="2313432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未答 / 錯題 / 隨機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172200" y="3108960"/>
            <a:ext cx="5349240" cy="1325880"/>
          </a:xfrm>
          <a:prstGeom prst="roundRect">
            <a:avLst>
              <a:gd name="adj" fmla="val 5517"/>
            </a:avLst>
          </a:prstGeom>
          <a:solidFill>
            <a:srgbClr val="2C2C46"/>
          </a:solidFill>
          <a:ln w="12700">
            <a:solidFill>
              <a:srgbClr val="3A3A55"/>
            </a:solidFill>
            <a:prstDash val="solid"/>
          </a:ln>
          <a:effectLst>
            <a:outerShdw blurRad="101600" dist="38100" dir="54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15" name="Text 13"/>
          <p:cNvSpPr/>
          <p:nvPr/>
        </p:nvSpPr>
        <p:spPr>
          <a:xfrm>
            <a:off x="6446520" y="3273552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64B5F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量化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8229600" y="3310128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ECEFF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學習成效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8229600" y="3822192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逐題記錄答對 / 答錯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172200" y="4617720"/>
            <a:ext cx="5349240" cy="1325880"/>
          </a:xfrm>
          <a:prstGeom prst="roundRect">
            <a:avLst>
              <a:gd name="adj" fmla="val 5517"/>
            </a:avLst>
          </a:prstGeom>
          <a:solidFill>
            <a:srgbClr val="2C2C46"/>
          </a:solidFill>
          <a:ln w="12700">
            <a:solidFill>
              <a:srgbClr val="3A3A55"/>
            </a:solidFill>
            <a:prstDash val="solid"/>
          </a:ln>
          <a:effectLst>
            <a:outerShdw blurRad="101600" dist="38100" dir="54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19" name="Text 17"/>
          <p:cNvSpPr/>
          <p:nvPr/>
        </p:nvSpPr>
        <p:spPr>
          <a:xfrm>
            <a:off x="6446520" y="4782312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64B5F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完整</a:t>
            </a:r>
            <a:endParaRPr lang="en-US" sz="3000" dirty="0"/>
          </a:p>
        </p:txBody>
      </p:sp>
      <p:sp>
        <p:nvSpPr>
          <p:cNvPr id="20" name="Text 18"/>
          <p:cNvSpPr/>
          <p:nvPr/>
        </p:nvSpPr>
        <p:spPr>
          <a:xfrm>
            <a:off x="8229600" y="4818888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ECEFF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題庫管理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8229600" y="5330952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查看 / 編輯 / 匯入 / 維護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48640" y="643737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 Quizbank ｜ 期末分組報告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1338560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0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46304" cy="384048"/>
          </a:xfrm>
          <a:prstGeom prst="rect">
            <a:avLst/>
          </a:prstGeom>
          <a:solidFill>
            <a:srgbClr val="64B5F6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" name="Text 1"/>
          <p:cNvSpPr/>
          <p:nvPr/>
        </p:nvSpPr>
        <p:spPr>
          <a:xfrm>
            <a:off x="777240" y="45720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ECEFF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系統需求規格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1024128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64B5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 REQUIREMENT AREAS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40080" y="1920240"/>
            <a:ext cx="2084832" cy="3931920"/>
          </a:xfrm>
          <a:prstGeom prst="roundRect">
            <a:avLst>
              <a:gd name="adj" fmla="val 3509"/>
            </a:avLst>
          </a:prstGeom>
          <a:solidFill>
            <a:srgbClr val="24243B"/>
          </a:solidFill>
          <a:ln w="12700">
            <a:solidFill>
              <a:srgbClr val="3A3A55"/>
            </a:solidFill>
            <a:prstDash val="solid"/>
          </a:ln>
          <a:effectLst>
            <a:outerShdw blurRad="101600" dist="38100" dir="54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6" name="Text 4"/>
          <p:cNvSpPr/>
          <p:nvPr/>
        </p:nvSpPr>
        <p:spPr>
          <a:xfrm>
            <a:off x="640080" y="2194560"/>
            <a:ext cx="20848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64B5F6"/>
                </a:solidFill>
              </a:rPr>
              <a:t>①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749808" y="3154680"/>
            <a:ext cx="18653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ECEFF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系統名稱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1051560" y="3977640"/>
            <a:ext cx="1261872" cy="0"/>
          </a:xfrm>
          <a:prstGeom prst="line">
            <a:avLst/>
          </a:prstGeom>
          <a:noFill/>
          <a:ln w="19050">
            <a:solidFill>
              <a:srgbClr val="64B5F6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9" name="Text 7"/>
          <p:cNvSpPr/>
          <p:nvPr/>
        </p:nvSpPr>
        <p:spPr>
          <a:xfrm>
            <a:off x="804672" y="4114800"/>
            <a:ext cx="175564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5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 Quizbank 前端題庫刷題系統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2889504" y="1920240"/>
            <a:ext cx="2084832" cy="3931920"/>
          </a:xfrm>
          <a:prstGeom prst="roundRect">
            <a:avLst>
              <a:gd name="adj" fmla="val 3509"/>
            </a:avLst>
          </a:prstGeom>
          <a:solidFill>
            <a:srgbClr val="24243B"/>
          </a:solidFill>
          <a:ln w="12700">
            <a:solidFill>
              <a:srgbClr val="3A3A55"/>
            </a:solidFill>
            <a:prstDash val="solid"/>
          </a:ln>
          <a:effectLst>
            <a:outerShdw blurRad="101600" dist="38100" dir="54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11" name="Text 9"/>
          <p:cNvSpPr/>
          <p:nvPr/>
        </p:nvSpPr>
        <p:spPr>
          <a:xfrm>
            <a:off x="2889504" y="2194560"/>
            <a:ext cx="20848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81C784"/>
                </a:solidFill>
              </a:rPr>
              <a:t>②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2999232" y="3154680"/>
            <a:ext cx="18653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ECEFF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功能性需求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3300984" y="3977640"/>
            <a:ext cx="1261872" cy="0"/>
          </a:xfrm>
          <a:prstGeom prst="line">
            <a:avLst/>
          </a:prstGeom>
          <a:noFill/>
          <a:ln w="19050">
            <a:solidFill>
              <a:srgbClr val="81C784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4" name="Text 12"/>
          <p:cNvSpPr/>
          <p:nvPr/>
        </p:nvSpPr>
        <p:spPr>
          <a:xfrm>
            <a:off x="3054096" y="4114800"/>
            <a:ext cx="175564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5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測驗 · 題庫管理 · JSON 匯入 · 狀態維護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138928" y="1920240"/>
            <a:ext cx="2084832" cy="3931920"/>
          </a:xfrm>
          <a:prstGeom prst="roundRect">
            <a:avLst>
              <a:gd name="adj" fmla="val 3509"/>
            </a:avLst>
          </a:prstGeom>
          <a:solidFill>
            <a:srgbClr val="24243B"/>
          </a:solidFill>
          <a:ln w="12700">
            <a:solidFill>
              <a:srgbClr val="3A3A55"/>
            </a:solidFill>
            <a:prstDash val="solid"/>
          </a:ln>
          <a:effectLst>
            <a:outerShdw blurRad="101600" dist="38100" dir="54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16" name="Text 14"/>
          <p:cNvSpPr/>
          <p:nvPr/>
        </p:nvSpPr>
        <p:spPr>
          <a:xfrm>
            <a:off x="5138928" y="2194560"/>
            <a:ext cx="20848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FFB74D"/>
                </a:solidFill>
              </a:rPr>
              <a:t>③</a:t>
            </a:r>
            <a:endParaRPr lang="en-US" sz="4000" dirty="0"/>
          </a:p>
        </p:txBody>
      </p:sp>
      <p:sp>
        <p:nvSpPr>
          <p:cNvPr id="17" name="Text 15"/>
          <p:cNvSpPr/>
          <p:nvPr/>
        </p:nvSpPr>
        <p:spPr>
          <a:xfrm>
            <a:off x="5248656" y="3154680"/>
            <a:ext cx="18653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ECEFF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UI/UX 設計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5550408" y="3977640"/>
            <a:ext cx="1261872" cy="0"/>
          </a:xfrm>
          <a:prstGeom prst="line">
            <a:avLst/>
          </a:prstGeom>
          <a:noFill/>
          <a:ln w="19050">
            <a:solidFill>
              <a:srgbClr val="FFB74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9" name="Text 17"/>
          <p:cNvSpPr/>
          <p:nvPr/>
        </p:nvSpPr>
        <p:spPr>
          <a:xfrm>
            <a:off x="5303520" y="4114800"/>
            <a:ext cx="175564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5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RWD · 深色主題 · 卡片式 · SPA 切換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7388352" y="1920240"/>
            <a:ext cx="2084832" cy="3931920"/>
          </a:xfrm>
          <a:prstGeom prst="roundRect">
            <a:avLst>
              <a:gd name="adj" fmla="val 3509"/>
            </a:avLst>
          </a:prstGeom>
          <a:solidFill>
            <a:srgbClr val="24243B"/>
          </a:solidFill>
          <a:ln w="12700">
            <a:solidFill>
              <a:srgbClr val="3A3A55"/>
            </a:solidFill>
            <a:prstDash val="solid"/>
          </a:ln>
          <a:effectLst>
            <a:outerShdw blurRad="101600" dist="38100" dir="54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21" name="Text 19"/>
          <p:cNvSpPr/>
          <p:nvPr/>
        </p:nvSpPr>
        <p:spPr>
          <a:xfrm>
            <a:off x="7388352" y="2194560"/>
            <a:ext cx="20848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42A5F5"/>
                </a:solidFill>
              </a:rPr>
              <a:t>④</a:t>
            </a:r>
            <a:endParaRPr lang="en-US" sz="4000" dirty="0"/>
          </a:p>
        </p:txBody>
      </p:sp>
      <p:sp>
        <p:nvSpPr>
          <p:cNvPr id="22" name="Text 20"/>
          <p:cNvSpPr/>
          <p:nvPr/>
        </p:nvSpPr>
        <p:spPr>
          <a:xfrm>
            <a:off x="7498080" y="3154680"/>
            <a:ext cx="18653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ECEFF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技術規格</a:t>
            </a:r>
            <a:endParaRPr lang="en-US" sz="1700" dirty="0"/>
          </a:p>
        </p:txBody>
      </p:sp>
      <p:sp>
        <p:nvSpPr>
          <p:cNvPr id="23" name="Shape 21"/>
          <p:cNvSpPr/>
          <p:nvPr/>
        </p:nvSpPr>
        <p:spPr>
          <a:xfrm>
            <a:off x="7799832" y="3977640"/>
            <a:ext cx="1261872" cy="0"/>
          </a:xfrm>
          <a:prstGeom prst="line">
            <a:avLst/>
          </a:prstGeom>
          <a:noFill/>
          <a:ln w="19050">
            <a:solidFill>
              <a:srgbClr val="42A5F5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4" name="Text 22"/>
          <p:cNvSpPr/>
          <p:nvPr/>
        </p:nvSpPr>
        <p:spPr>
          <a:xfrm>
            <a:off x="7552944" y="4114800"/>
            <a:ext cx="175564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5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HTML5/CSS3/ES6+ · IndexedDB · 原生 JS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9637776" y="1920240"/>
            <a:ext cx="2084832" cy="3931920"/>
          </a:xfrm>
          <a:prstGeom prst="roundRect">
            <a:avLst>
              <a:gd name="adj" fmla="val 3509"/>
            </a:avLst>
          </a:prstGeom>
          <a:solidFill>
            <a:srgbClr val="24243B"/>
          </a:solidFill>
          <a:ln w="12700">
            <a:solidFill>
              <a:srgbClr val="3A3A55"/>
            </a:solidFill>
            <a:prstDash val="solid"/>
          </a:ln>
          <a:effectLst>
            <a:outerShdw blurRad="101600" dist="38100" dir="54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26" name="Text 24"/>
          <p:cNvSpPr/>
          <p:nvPr/>
        </p:nvSpPr>
        <p:spPr>
          <a:xfrm>
            <a:off x="9637776" y="2194560"/>
            <a:ext cx="20848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E57373"/>
                </a:solidFill>
              </a:rPr>
              <a:t>⑤</a:t>
            </a:r>
            <a:endParaRPr lang="en-US" sz="4000" dirty="0"/>
          </a:p>
        </p:txBody>
      </p:sp>
      <p:sp>
        <p:nvSpPr>
          <p:cNvPr id="27" name="Text 25"/>
          <p:cNvSpPr/>
          <p:nvPr/>
        </p:nvSpPr>
        <p:spPr>
          <a:xfrm>
            <a:off x="9747504" y="3154680"/>
            <a:ext cx="18653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ECEFF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資安要求</a:t>
            </a:r>
            <a:endParaRPr lang="en-US" sz="1700" dirty="0"/>
          </a:p>
        </p:txBody>
      </p:sp>
      <p:sp>
        <p:nvSpPr>
          <p:cNvPr id="28" name="Shape 26"/>
          <p:cNvSpPr/>
          <p:nvPr/>
        </p:nvSpPr>
        <p:spPr>
          <a:xfrm>
            <a:off x="10049256" y="3977640"/>
            <a:ext cx="1261872" cy="0"/>
          </a:xfrm>
          <a:prstGeom prst="line">
            <a:avLst/>
          </a:prstGeom>
          <a:noFill/>
          <a:ln w="19050">
            <a:solidFill>
              <a:srgbClr val="E57373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9" name="Text 27"/>
          <p:cNvSpPr/>
          <p:nvPr/>
        </p:nvSpPr>
        <p:spPr>
          <a:xfrm>
            <a:off x="9802368" y="4114800"/>
            <a:ext cx="175564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5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輸入驗證 · XSS 跳脫 · 資料最小化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548640" y="643737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 Quizbank ｜ 期末分組報告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11338560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0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46304" cy="384048"/>
          </a:xfrm>
          <a:prstGeom prst="rect">
            <a:avLst/>
          </a:prstGeom>
          <a:solidFill>
            <a:srgbClr val="64B5F6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" name="Text 1"/>
          <p:cNvSpPr/>
          <p:nvPr/>
        </p:nvSpPr>
        <p:spPr>
          <a:xfrm>
            <a:off x="777240" y="45720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ECEFF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功能模組總覽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1024128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64B5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FOUR MODULES · ONE QuizDB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40080" y="1737360"/>
            <a:ext cx="5349240" cy="1920240"/>
          </a:xfrm>
          <a:prstGeom prst="roundRect">
            <a:avLst>
              <a:gd name="adj" fmla="val 3810"/>
            </a:avLst>
          </a:prstGeom>
          <a:solidFill>
            <a:srgbClr val="24243B"/>
          </a:solidFill>
          <a:ln w="12700">
            <a:solidFill>
              <a:srgbClr val="3A3A55"/>
            </a:solidFill>
            <a:prstDash val="solid"/>
          </a:ln>
          <a:effectLst>
            <a:outerShdw blurRad="101600" dist="38100" dir="54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6" name="Shape 4"/>
          <p:cNvSpPr/>
          <p:nvPr/>
        </p:nvSpPr>
        <p:spPr>
          <a:xfrm>
            <a:off x="914400" y="2148840"/>
            <a:ext cx="1097280" cy="1097280"/>
          </a:xfrm>
          <a:prstGeom prst="roundRect">
            <a:avLst>
              <a:gd name="adj" fmla="val 15000"/>
            </a:avLst>
          </a:prstGeom>
          <a:solidFill>
            <a:srgbClr val="2C2C46"/>
          </a:solidFill>
          <a:ln w="19050">
            <a:solidFill>
              <a:srgbClr val="64B5F6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7" name="Text 5"/>
          <p:cNvSpPr/>
          <p:nvPr/>
        </p:nvSpPr>
        <p:spPr>
          <a:xfrm>
            <a:off x="914400" y="214884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dirty="0">
                <a:solidFill>
                  <a:srgbClr val="000000"/>
                </a:solidFill>
              </a:rPr>
              <a:t>📝</a:t>
            </a:r>
            <a:endParaRPr lang="en-US" sz="3800" dirty="0"/>
          </a:p>
        </p:txBody>
      </p:sp>
      <p:sp>
        <p:nvSpPr>
          <p:cNvPr id="8" name="Text 6"/>
          <p:cNvSpPr/>
          <p:nvPr/>
        </p:nvSpPr>
        <p:spPr>
          <a:xfrm>
            <a:off x="2240280" y="219456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64B5F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測驗 Quiz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2240280" y="2743200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出題設定、抽題、作答、即時回饋與統計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263640" y="1737360"/>
            <a:ext cx="5349240" cy="1920240"/>
          </a:xfrm>
          <a:prstGeom prst="roundRect">
            <a:avLst>
              <a:gd name="adj" fmla="val 3810"/>
            </a:avLst>
          </a:prstGeom>
          <a:solidFill>
            <a:srgbClr val="24243B"/>
          </a:solidFill>
          <a:ln w="12700">
            <a:solidFill>
              <a:srgbClr val="3A3A55"/>
            </a:solidFill>
            <a:prstDash val="solid"/>
          </a:ln>
          <a:effectLst>
            <a:outerShdw blurRad="101600" dist="38100" dir="54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11" name="Shape 9"/>
          <p:cNvSpPr/>
          <p:nvPr/>
        </p:nvSpPr>
        <p:spPr>
          <a:xfrm>
            <a:off x="6537960" y="2148840"/>
            <a:ext cx="1097280" cy="1097280"/>
          </a:xfrm>
          <a:prstGeom prst="roundRect">
            <a:avLst>
              <a:gd name="adj" fmla="val 15000"/>
            </a:avLst>
          </a:prstGeom>
          <a:solidFill>
            <a:srgbClr val="2C2C46"/>
          </a:solidFill>
          <a:ln w="19050">
            <a:solidFill>
              <a:srgbClr val="81C784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2" name="Text 10"/>
          <p:cNvSpPr/>
          <p:nvPr/>
        </p:nvSpPr>
        <p:spPr>
          <a:xfrm>
            <a:off x="6537960" y="214884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dirty="0">
                <a:solidFill>
                  <a:srgbClr val="000000"/>
                </a:solidFill>
              </a:rPr>
              <a:t>📚</a:t>
            </a:r>
            <a:endParaRPr lang="en-US" sz="3800" dirty="0"/>
          </a:p>
        </p:txBody>
      </p:sp>
      <p:sp>
        <p:nvSpPr>
          <p:cNvPr id="13" name="Text 11"/>
          <p:cNvSpPr/>
          <p:nvPr/>
        </p:nvSpPr>
        <p:spPr>
          <a:xfrm>
            <a:off x="7863840" y="219456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81C78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題庫管理 Bank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7863840" y="2743200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查看、篩選、排序、編輯、UI 新增題目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640080" y="3886200"/>
            <a:ext cx="5349240" cy="1920240"/>
          </a:xfrm>
          <a:prstGeom prst="roundRect">
            <a:avLst>
              <a:gd name="adj" fmla="val 3810"/>
            </a:avLst>
          </a:prstGeom>
          <a:solidFill>
            <a:srgbClr val="24243B"/>
          </a:solidFill>
          <a:ln w="12700">
            <a:solidFill>
              <a:srgbClr val="3A3A55"/>
            </a:solidFill>
            <a:prstDash val="solid"/>
          </a:ln>
          <a:effectLst>
            <a:outerShdw blurRad="101600" dist="38100" dir="54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16" name="Shape 14"/>
          <p:cNvSpPr/>
          <p:nvPr/>
        </p:nvSpPr>
        <p:spPr>
          <a:xfrm>
            <a:off x="914400" y="4297680"/>
            <a:ext cx="1097280" cy="1097280"/>
          </a:xfrm>
          <a:prstGeom prst="roundRect">
            <a:avLst>
              <a:gd name="adj" fmla="val 15000"/>
            </a:avLst>
          </a:prstGeom>
          <a:solidFill>
            <a:srgbClr val="2C2C46"/>
          </a:solidFill>
          <a:ln w="19050">
            <a:solidFill>
              <a:srgbClr val="FFB74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7" name="Text 15"/>
          <p:cNvSpPr/>
          <p:nvPr/>
        </p:nvSpPr>
        <p:spPr>
          <a:xfrm>
            <a:off x="914400" y="429768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dirty="0">
                <a:solidFill>
                  <a:srgbClr val="000000"/>
                </a:solidFill>
              </a:rPr>
              <a:t>📥</a:t>
            </a:r>
            <a:endParaRPr lang="en-US" sz="3800" dirty="0"/>
          </a:p>
        </p:txBody>
      </p:sp>
      <p:sp>
        <p:nvSpPr>
          <p:cNvPr id="18" name="Text 16"/>
          <p:cNvSpPr/>
          <p:nvPr/>
        </p:nvSpPr>
        <p:spPr>
          <a:xfrm>
            <a:off x="2240280" y="434340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FFB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JSON 匯入 Importer</a:t>
            </a:r>
            <a:endParaRPr lang="en-US" sz="2100" dirty="0"/>
          </a:p>
        </p:txBody>
      </p:sp>
      <p:sp>
        <p:nvSpPr>
          <p:cNvPr id="19" name="Text 17"/>
          <p:cNvSpPr/>
          <p:nvPr/>
        </p:nvSpPr>
        <p:spPr>
          <a:xfrm>
            <a:off x="2240280" y="4892040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檔案上傳或貼上文字，批次匯入題庫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6263640" y="3886200"/>
            <a:ext cx="5349240" cy="1920240"/>
          </a:xfrm>
          <a:prstGeom prst="roundRect">
            <a:avLst>
              <a:gd name="adj" fmla="val 3810"/>
            </a:avLst>
          </a:prstGeom>
          <a:solidFill>
            <a:srgbClr val="24243B"/>
          </a:solidFill>
          <a:ln w="12700">
            <a:solidFill>
              <a:srgbClr val="3A3A55"/>
            </a:solidFill>
            <a:prstDash val="solid"/>
          </a:ln>
          <a:effectLst>
            <a:outerShdw blurRad="101600" dist="38100" dir="54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21" name="Shape 19"/>
          <p:cNvSpPr/>
          <p:nvPr/>
        </p:nvSpPr>
        <p:spPr>
          <a:xfrm>
            <a:off x="6537960" y="4297680"/>
            <a:ext cx="1097280" cy="1097280"/>
          </a:xfrm>
          <a:prstGeom prst="roundRect">
            <a:avLst>
              <a:gd name="adj" fmla="val 15000"/>
            </a:avLst>
          </a:prstGeom>
          <a:solidFill>
            <a:srgbClr val="2C2C46"/>
          </a:solidFill>
          <a:ln w="19050">
            <a:solidFill>
              <a:srgbClr val="E57373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2" name="Text 20"/>
          <p:cNvSpPr/>
          <p:nvPr/>
        </p:nvSpPr>
        <p:spPr>
          <a:xfrm>
            <a:off x="6537960" y="429768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dirty="0">
                <a:solidFill>
                  <a:srgbClr val="000000"/>
                </a:solidFill>
              </a:rPr>
              <a:t>⚙️</a:t>
            </a:r>
            <a:endParaRPr lang="en-US" sz="3800" dirty="0"/>
          </a:p>
        </p:txBody>
      </p:sp>
      <p:sp>
        <p:nvSpPr>
          <p:cNvPr id="23" name="Text 21"/>
          <p:cNvSpPr/>
          <p:nvPr/>
        </p:nvSpPr>
        <p:spPr>
          <a:xfrm>
            <a:off x="7863840" y="434340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E5737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狀態與維護 Maint</a:t>
            </a:r>
            <a:endParaRPr lang="en-US" sz="2100" dirty="0"/>
          </a:p>
        </p:txBody>
      </p:sp>
      <p:sp>
        <p:nvSpPr>
          <p:cNvPr id="24" name="Text 22"/>
          <p:cNvSpPr/>
          <p:nvPr/>
        </p:nvSpPr>
        <p:spPr>
          <a:xfrm>
            <a:off x="7863840" y="4892040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資料庫統計、清空錯題、清空全部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548640" y="643737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 Quizbank ｜ 期末分組報告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1338560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0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46304" cy="384048"/>
          </a:xfrm>
          <a:prstGeom prst="rect">
            <a:avLst/>
          </a:prstGeom>
          <a:solidFill>
            <a:srgbClr val="64B5F6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" name="Text 1"/>
          <p:cNvSpPr/>
          <p:nvPr/>
        </p:nvSpPr>
        <p:spPr>
          <a:xfrm>
            <a:off x="777240" y="45720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ECEFF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📝  測驗 Quiz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1024128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64B5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FUNCTION DETAIL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" y="1783080"/>
            <a:ext cx="6766560" cy="4251960"/>
          </a:xfrm>
          <a:prstGeom prst="roundRect">
            <a:avLst>
              <a:gd name="adj" fmla="val 1720"/>
            </a:avLst>
          </a:prstGeom>
          <a:solidFill>
            <a:srgbClr val="24243B"/>
          </a:solidFill>
          <a:ln w="12700">
            <a:solidFill>
              <a:srgbClr val="3A3A55"/>
            </a:solidFill>
            <a:prstDash val="solid"/>
          </a:ln>
          <a:effectLst>
            <a:outerShdw blurRad="101600" dist="38100" dir="54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8" name="Text 6"/>
          <p:cNvSpPr/>
          <p:nvPr/>
        </p:nvSpPr>
        <p:spPr>
          <a:xfrm>
            <a:off x="914400" y="2011680"/>
            <a:ext cx="6217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64B5F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主要功能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914400" y="2514600"/>
            <a:ext cx="6309360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出題範圍：全部題庫 / 指定單一題庫</a:t>
            </a:r>
            <a:endParaRPr lang="en-US" sz="1500" dirty="0"/>
          </a:p>
          <a:p>
            <a:pPr marL="177800" indent="-177800"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三種出題模式：未答優先、錯題優先、完全隨機</a:t>
            </a:r>
            <a:endParaRPr lang="en-US" sz="1500" dirty="0"/>
          </a:p>
          <a:p>
            <a:pPr marL="177800" indent="-177800"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單選作答，送出後即時回饋（綠對 / 紅錯）並顯示詳解</a:t>
            </a:r>
            <a:endParaRPr lang="en-US" sz="1500" dirty="0"/>
          </a:p>
          <a:p>
            <a:pPr marL="177800" indent="-177800"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依選項 order 決定隨機或固定排序，作答後更新統計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635240" y="1783080"/>
            <a:ext cx="3913632" cy="4251960"/>
          </a:xfrm>
          <a:prstGeom prst="roundRect">
            <a:avLst>
              <a:gd name="adj" fmla="val 1869"/>
            </a:avLst>
          </a:prstGeom>
          <a:solidFill>
            <a:srgbClr val="2C2C46"/>
          </a:solidFill>
          <a:ln w="12700">
            <a:solidFill>
              <a:srgbClr val="3A3A55"/>
            </a:solidFill>
            <a:prstDash val="solid"/>
          </a:ln>
          <a:effectLst>
            <a:outerShdw blurRad="101600" dist="38100" dir="54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11" name="Text 9"/>
          <p:cNvSpPr/>
          <p:nvPr/>
        </p:nvSpPr>
        <p:spPr>
          <a:xfrm>
            <a:off x="7909560" y="2011680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64B5F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主要資料操作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909560" y="2560320"/>
            <a:ext cx="338328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81C7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QuizDB.getAll()</a:t>
            </a:r>
            <a:endParaRPr lang="en-US" sz="1400" dirty="0"/>
          </a:p>
          <a:p>
            <a:pPr marL="0" indent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81C7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QuizDB.updateStats(id, ok)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909560" y="4709160"/>
            <a:ext cx="3383280" cy="0"/>
          </a:xfrm>
          <a:prstGeom prst="line">
            <a:avLst/>
          </a:prstGeom>
          <a:noFill/>
          <a:ln w="12700">
            <a:solidFill>
              <a:srgbClr val="3A3A55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4" name="Text 12"/>
          <p:cNvSpPr/>
          <p:nvPr/>
        </p:nvSpPr>
        <p:spPr>
          <a:xfrm>
            <a:off x="7909560" y="4846320"/>
            <a:ext cx="3383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所有模組共用 QuizDB 資料層，操作同一個 IndexedDB。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548640" y="643737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 Quizbank ｜ 期末分組報告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1338560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0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46304" cy="384048"/>
          </a:xfrm>
          <a:prstGeom prst="rect">
            <a:avLst/>
          </a:prstGeom>
          <a:solidFill>
            <a:srgbClr val="64B5F6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" name="Text 1"/>
          <p:cNvSpPr/>
          <p:nvPr/>
        </p:nvSpPr>
        <p:spPr>
          <a:xfrm>
            <a:off x="777240" y="45720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ECEFF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📚  題庫管理 Bank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1024128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64B5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FUNCTION DETAIL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" y="1783080"/>
            <a:ext cx="6766560" cy="4251960"/>
          </a:xfrm>
          <a:prstGeom prst="roundRect">
            <a:avLst>
              <a:gd name="adj" fmla="val 1720"/>
            </a:avLst>
          </a:prstGeom>
          <a:solidFill>
            <a:srgbClr val="24243B"/>
          </a:solidFill>
          <a:ln w="12700">
            <a:solidFill>
              <a:srgbClr val="3A3A55"/>
            </a:solidFill>
            <a:prstDash val="solid"/>
          </a:ln>
          <a:effectLst>
            <a:outerShdw blurRad="101600" dist="38100" dir="54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8" name="Text 6"/>
          <p:cNvSpPr/>
          <p:nvPr/>
        </p:nvSpPr>
        <p:spPr>
          <a:xfrm>
            <a:off x="914400" y="2011680"/>
            <a:ext cx="6217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81C78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主要功能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914400" y="2514600"/>
            <a:ext cx="6309360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題目列表：顯示題庫、題號、預覽與答對 / 答錯統計</a:t>
            </a:r>
            <a:endParaRPr lang="en-US" sz="1500" dirty="0"/>
          </a:p>
          <a:p>
            <a:pPr marL="177800" indent="-177800"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可依題庫篩選，依題號或錯題次數排序</a:t>
            </a:r>
            <a:endParaRPr lang="en-US" sz="1500" dirty="0"/>
          </a:p>
          <a:p>
            <a:pPr marL="177800" indent="-177800"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彈窗編輯題目、選項、正確答案與詳解</a:t>
            </a:r>
            <a:endParaRPr lang="en-US" sz="1500" dirty="0"/>
          </a:p>
          <a:p>
            <a:pPr marL="177800" indent="-177800"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 新增單題（可建新題庫、連續新增）、一鍵複製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635240" y="1783080"/>
            <a:ext cx="3913632" cy="4251960"/>
          </a:xfrm>
          <a:prstGeom prst="roundRect">
            <a:avLst>
              <a:gd name="adj" fmla="val 1869"/>
            </a:avLst>
          </a:prstGeom>
          <a:solidFill>
            <a:srgbClr val="2C2C46"/>
          </a:solidFill>
          <a:ln w="12700">
            <a:solidFill>
              <a:srgbClr val="3A3A55"/>
            </a:solidFill>
            <a:prstDash val="solid"/>
          </a:ln>
          <a:effectLst>
            <a:outerShdw blurRad="101600" dist="38100" dir="54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11" name="Text 9"/>
          <p:cNvSpPr/>
          <p:nvPr/>
        </p:nvSpPr>
        <p:spPr>
          <a:xfrm>
            <a:off x="7909560" y="2011680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64B5F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主要資料操作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909560" y="2560320"/>
            <a:ext cx="338328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81C7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QuizDB.getAll()</a:t>
            </a:r>
            <a:endParaRPr lang="en-US" sz="1400" dirty="0"/>
          </a:p>
          <a:p>
            <a:pPr marL="0" indent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81C7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QuizDB.add(...)</a:t>
            </a:r>
            <a:endParaRPr lang="en-US" sz="1400" dirty="0"/>
          </a:p>
          <a:p>
            <a:pPr marL="0" indent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81C7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QuizDB.update(id, patch)</a:t>
            </a:r>
            <a:endParaRPr lang="en-US" sz="1400" dirty="0"/>
          </a:p>
          <a:p>
            <a:pPr marL="0" indent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81C7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QuizDB.getBanks()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909560" y="4709160"/>
            <a:ext cx="3383280" cy="0"/>
          </a:xfrm>
          <a:prstGeom prst="line">
            <a:avLst/>
          </a:prstGeom>
          <a:noFill/>
          <a:ln w="12700">
            <a:solidFill>
              <a:srgbClr val="3A3A55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4" name="Text 12"/>
          <p:cNvSpPr/>
          <p:nvPr/>
        </p:nvSpPr>
        <p:spPr>
          <a:xfrm>
            <a:off x="7909560" y="4846320"/>
            <a:ext cx="3383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所有模組共用 QuizDB 資料層，操作同一個 IndexedDB。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548640" y="643737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 Quizbank ｜ 期末分組報告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1338560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0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46304" cy="384048"/>
          </a:xfrm>
          <a:prstGeom prst="rect">
            <a:avLst/>
          </a:prstGeom>
          <a:solidFill>
            <a:srgbClr val="64B5F6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" name="Text 1"/>
          <p:cNvSpPr/>
          <p:nvPr/>
        </p:nvSpPr>
        <p:spPr>
          <a:xfrm>
            <a:off x="777240" y="45720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ECEFF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📥  JSON 匯入 Importer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1024128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64B5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FUNCTION DETAIL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" y="1783080"/>
            <a:ext cx="6766560" cy="4251960"/>
          </a:xfrm>
          <a:prstGeom prst="roundRect">
            <a:avLst>
              <a:gd name="adj" fmla="val 1720"/>
            </a:avLst>
          </a:prstGeom>
          <a:solidFill>
            <a:srgbClr val="24243B"/>
          </a:solidFill>
          <a:ln w="12700">
            <a:solidFill>
              <a:srgbClr val="3A3A55"/>
            </a:solidFill>
            <a:prstDash val="solid"/>
          </a:ln>
          <a:effectLst>
            <a:outerShdw blurRad="101600" dist="38100" dir="54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8" name="Text 6"/>
          <p:cNvSpPr/>
          <p:nvPr/>
        </p:nvSpPr>
        <p:spPr>
          <a:xfrm>
            <a:off x="914400" y="2011680"/>
            <a:ext cx="6217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B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主要功能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914400" y="2514600"/>
            <a:ext cx="6309360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兩種來源：檔案上傳（.json）或貼上文字</a:t>
            </a:r>
            <a:endParaRPr lang="en-US" sz="1500" dirty="0"/>
          </a:p>
          <a:p>
            <a:pPr marL="177800" indent="-177800"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匯入前驗證 JSON 格式（須為陣列），格式錯誤即攔截</a:t>
            </a:r>
            <a:endParaRPr lang="en-US" sz="1500" dirty="0"/>
          </a:p>
          <a:p>
            <a:pPr marL="177800" indent="-177800"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可選既有題庫或建立新題庫，自動以檔名帶入</a:t>
            </a:r>
            <a:endParaRPr lang="en-US" sz="1500" dirty="0"/>
          </a:p>
          <a:p>
            <a:pPr marL="177800" indent="-177800"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批次寫入並自動接續題號，完成後回報匯入題數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635240" y="1783080"/>
            <a:ext cx="3913632" cy="4251960"/>
          </a:xfrm>
          <a:prstGeom prst="roundRect">
            <a:avLst>
              <a:gd name="adj" fmla="val 1869"/>
            </a:avLst>
          </a:prstGeom>
          <a:solidFill>
            <a:srgbClr val="2C2C46"/>
          </a:solidFill>
          <a:ln w="12700">
            <a:solidFill>
              <a:srgbClr val="3A3A55"/>
            </a:solidFill>
            <a:prstDash val="solid"/>
          </a:ln>
          <a:effectLst>
            <a:outerShdw blurRad="101600" dist="38100" dir="54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11" name="Text 9"/>
          <p:cNvSpPr/>
          <p:nvPr/>
        </p:nvSpPr>
        <p:spPr>
          <a:xfrm>
            <a:off x="7909560" y="2011680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64B5F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主要資料操作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909560" y="2560320"/>
            <a:ext cx="338328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81C7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QuizDB.addBatch(items, bank)</a:t>
            </a:r>
            <a:endParaRPr lang="en-US" sz="1400" dirty="0"/>
          </a:p>
          <a:p>
            <a:pPr marL="0" indent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81C7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QuizDB.getBanks()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909560" y="4709160"/>
            <a:ext cx="3383280" cy="0"/>
          </a:xfrm>
          <a:prstGeom prst="line">
            <a:avLst/>
          </a:prstGeom>
          <a:noFill/>
          <a:ln w="12700">
            <a:solidFill>
              <a:srgbClr val="3A3A55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4" name="Text 12"/>
          <p:cNvSpPr/>
          <p:nvPr/>
        </p:nvSpPr>
        <p:spPr>
          <a:xfrm>
            <a:off x="7909560" y="4846320"/>
            <a:ext cx="3383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所有模組共用 QuizDB 資料層，操作同一個 IndexedDB。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548640" y="643737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 Quizbank ｜ 期末分組報告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1338560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0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46304" cy="384048"/>
          </a:xfrm>
          <a:prstGeom prst="rect">
            <a:avLst/>
          </a:prstGeom>
          <a:solidFill>
            <a:srgbClr val="64B5F6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" name="Text 1"/>
          <p:cNvSpPr/>
          <p:nvPr/>
        </p:nvSpPr>
        <p:spPr>
          <a:xfrm>
            <a:off x="777240" y="45720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ECEFF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⚙️  狀態與維護 Maint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1024128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64B5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FUNCTION DETAIL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" y="1783080"/>
            <a:ext cx="6766560" cy="4251960"/>
          </a:xfrm>
          <a:prstGeom prst="roundRect">
            <a:avLst>
              <a:gd name="adj" fmla="val 1720"/>
            </a:avLst>
          </a:prstGeom>
          <a:solidFill>
            <a:srgbClr val="24243B"/>
          </a:solidFill>
          <a:ln w="12700">
            <a:solidFill>
              <a:srgbClr val="3A3A55"/>
            </a:solidFill>
            <a:prstDash val="solid"/>
          </a:ln>
          <a:effectLst>
            <a:outerShdw blurRad="101600" dist="38100" dir="54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8" name="Text 6"/>
          <p:cNvSpPr/>
          <p:nvPr/>
        </p:nvSpPr>
        <p:spPr>
          <a:xfrm>
            <a:off x="914400" y="2011680"/>
            <a:ext cx="6217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5737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主要功能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914400" y="2514600"/>
            <a:ext cx="6309360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資料庫統計：總題數、題庫數、累計答對 / 答錯</a:t>
            </a:r>
            <a:endParaRPr lang="en-US" sz="1500" dirty="0"/>
          </a:p>
          <a:p>
            <a:pPr marL="177800" indent="-177800"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列出各題庫題數</a:t>
            </a:r>
            <a:endParaRPr lang="en-US" sz="1500" dirty="0"/>
          </a:p>
          <a:p>
            <a:pPr marL="177800" indent="-177800"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清空所有錯題紀錄（fail 歸零，題目保留）</a:t>
            </a:r>
            <a:endParaRPr lang="en-US" sz="1500" dirty="0"/>
          </a:p>
          <a:p>
            <a:pPr marL="177800" indent="-177800"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清空整個資料庫（二次確認，避免誤刪）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635240" y="1783080"/>
            <a:ext cx="3913632" cy="4251960"/>
          </a:xfrm>
          <a:prstGeom prst="roundRect">
            <a:avLst>
              <a:gd name="adj" fmla="val 1869"/>
            </a:avLst>
          </a:prstGeom>
          <a:solidFill>
            <a:srgbClr val="2C2C46"/>
          </a:solidFill>
          <a:ln w="12700">
            <a:solidFill>
              <a:srgbClr val="3A3A55"/>
            </a:solidFill>
            <a:prstDash val="solid"/>
          </a:ln>
          <a:effectLst>
            <a:outerShdw blurRad="101600" dist="38100" dir="54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11" name="Text 9"/>
          <p:cNvSpPr/>
          <p:nvPr/>
        </p:nvSpPr>
        <p:spPr>
          <a:xfrm>
            <a:off x="7909560" y="2011680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64B5F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主要資料操作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909560" y="2560320"/>
            <a:ext cx="338328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81C7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QuizDB.getAll()</a:t>
            </a:r>
            <a:endParaRPr lang="en-US" sz="1400" dirty="0"/>
          </a:p>
          <a:p>
            <a:pPr marL="0" indent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81C7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QuizDB.resetAllFails()</a:t>
            </a:r>
            <a:endParaRPr lang="en-US" sz="1400" dirty="0"/>
          </a:p>
          <a:p>
            <a:pPr marL="0" indent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81C7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QuizDB.clearAll()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909560" y="4709160"/>
            <a:ext cx="3383280" cy="0"/>
          </a:xfrm>
          <a:prstGeom prst="line">
            <a:avLst/>
          </a:prstGeom>
          <a:noFill/>
          <a:ln w="12700">
            <a:solidFill>
              <a:srgbClr val="3A3A55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4" name="Text 12"/>
          <p:cNvSpPr/>
          <p:nvPr/>
        </p:nvSpPr>
        <p:spPr>
          <a:xfrm>
            <a:off x="7909560" y="4846320"/>
            <a:ext cx="3383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所有模組共用 QuizDB 資料層，操作同一個 IndexedDB。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548640" y="643737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 Quizbank ｜ 期末分組報告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1338560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0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46304" cy="384048"/>
          </a:xfrm>
          <a:prstGeom prst="rect">
            <a:avLst/>
          </a:prstGeom>
          <a:solidFill>
            <a:srgbClr val="64B5F6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" name="Text 1"/>
          <p:cNvSpPr/>
          <p:nvPr/>
        </p:nvSpPr>
        <p:spPr>
          <a:xfrm>
            <a:off x="777240" y="45720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ECEFF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技術架構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1024128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64B5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ARCHITECTURE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40080" y="1645920"/>
            <a:ext cx="6766560" cy="640080"/>
          </a:xfrm>
          <a:prstGeom prst="roundRect">
            <a:avLst>
              <a:gd name="adj" fmla="val 11429"/>
            </a:avLst>
          </a:prstGeom>
          <a:solidFill>
            <a:srgbClr val="24243B"/>
          </a:solidFill>
          <a:ln w="12700">
            <a:solidFill>
              <a:srgbClr val="3A3A55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6" name="Text 4"/>
          <p:cNvSpPr/>
          <p:nvPr/>
        </p:nvSpPr>
        <p:spPr>
          <a:xfrm>
            <a:off x="640080" y="1645920"/>
            <a:ext cx="6766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使用者（瀏覽器）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2286000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64B5F6"/>
                </a:solidFill>
              </a:rPr>
              <a:t>▼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2606040"/>
            <a:ext cx="6766560" cy="640080"/>
          </a:xfrm>
          <a:prstGeom prst="roundRect">
            <a:avLst>
              <a:gd name="adj" fmla="val 11429"/>
            </a:avLst>
          </a:prstGeom>
          <a:solidFill>
            <a:srgbClr val="24243B"/>
          </a:solidFill>
          <a:ln w="19050">
            <a:solidFill>
              <a:srgbClr val="64B5F6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9" name="Text 7"/>
          <p:cNvSpPr/>
          <p:nvPr/>
        </p:nvSpPr>
        <p:spPr>
          <a:xfrm>
            <a:off x="640080" y="2606040"/>
            <a:ext cx="6766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ECEF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index.html · app.css · app.js（單頁應用 SPA）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40080" y="3246120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64B5F6"/>
                </a:solidFill>
              </a:rPr>
              <a:t>▼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40080" y="3566160"/>
            <a:ext cx="1554480" cy="640080"/>
          </a:xfrm>
          <a:prstGeom prst="roundRect">
            <a:avLst>
              <a:gd name="adj" fmla="val 11429"/>
            </a:avLst>
          </a:prstGeom>
          <a:solidFill>
            <a:srgbClr val="2C2C46"/>
          </a:solidFill>
          <a:ln w="12700">
            <a:solidFill>
              <a:srgbClr val="81C784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2" name="Text 10"/>
          <p:cNvSpPr/>
          <p:nvPr/>
        </p:nvSpPr>
        <p:spPr>
          <a:xfrm>
            <a:off x="640080" y="356616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81C7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Quiz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2377440" y="3566160"/>
            <a:ext cx="1554480" cy="640080"/>
          </a:xfrm>
          <a:prstGeom prst="roundRect">
            <a:avLst>
              <a:gd name="adj" fmla="val 11429"/>
            </a:avLst>
          </a:prstGeom>
          <a:solidFill>
            <a:srgbClr val="2C2C46"/>
          </a:solidFill>
          <a:ln w="12700">
            <a:solidFill>
              <a:srgbClr val="81C784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4" name="Text 12"/>
          <p:cNvSpPr/>
          <p:nvPr/>
        </p:nvSpPr>
        <p:spPr>
          <a:xfrm>
            <a:off x="2377440" y="356616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81C7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Bank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114800" y="3566160"/>
            <a:ext cx="1554480" cy="640080"/>
          </a:xfrm>
          <a:prstGeom prst="roundRect">
            <a:avLst>
              <a:gd name="adj" fmla="val 11429"/>
            </a:avLst>
          </a:prstGeom>
          <a:solidFill>
            <a:srgbClr val="2C2C46"/>
          </a:solidFill>
          <a:ln w="12700">
            <a:solidFill>
              <a:srgbClr val="81C784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6" name="Text 14"/>
          <p:cNvSpPr/>
          <p:nvPr/>
        </p:nvSpPr>
        <p:spPr>
          <a:xfrm>
            <a:off x="4114800" y="356616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81C7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Importer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852160" y="3566160"/>
            <a:ext cx="1554480" cy="640080"/>
          </a:xfrm>
          <a:prstGeom prst="roundRect">
            <a:avLst>
              <a:gd name="adj" fmla="val 11429"/>
            </a:avLst>
          </a:prstGeom>
          <a:solidFill>
            <a:srgbClr val="2C2C46"/>
          </a:solidFill>
          <a:ln w="12700">
            <a:solidFill>
              <a:srgbClr val="81C784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8" name="Text 16"/>
          <p:cNvSpPr/>
          <p:nvPr/>
        </p:nvSpPr>
        <p:spPr>
          <a:xfrm>
            <a:off x="5852160" y="356616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81C7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Maint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40080" y="4251960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64B5F6"/>
                </a:solidFill>
              </a:rPr>
              <a:t>▼ 　共用資料層 QuizDB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40080" y="4572000"/>
            <a:ext cx="6766560" cy="640080"/>
          </a:xfrm>
          <a:prstGeom prst="roundRect">
            <a:avLst>
              <a:gd name="adj" fmla="val 11429"/>
            </a:avLst>
          </a:prstGeom>
          <a:solidFill>
            <a:srgbClr val="24243B"/>
          </a:solidFill>
          <a:ln w="19050">
            <a:solidFill>
              <a:srgbClr val="FFB74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1" name="Text 19"/>
          <p:cNvSpPr/>
          <p:nvPr/>
        </p:nvSpPr>
        <p:spPr>
          <a:xfrm>
            <a:off x="640080" y="4572000"/>
            <a:ext cx="6766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B7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QuizDB 資料層（Promise 封裝）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40080" y="5212080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64B5F6"/>
                </a:solidFill>
              </a:rPr>
              <a:t>▼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2011680" y="5532120"/>
            <a:ext cx="4023360" cy="640080"/>
          </a:xfrm>
          <a:prstGeom prst="roundRect">
            <a:avLst>
              <a:gd name="adj" fmla="val 11429"/>
            </a:avLst>
          </a:prstGeom>
          <a:solidFill>
            <a:srgbClr val="42A5F5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24" name="Text 22"/>
          <p:cNvSpPr/>
          <p:nvPr/>
        </p:nvSpPr>
        <p:spPr>
          <a:xfrm>
            <a:off x="2011680" y="5532120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B1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IndexedDB （瀏覽器本機）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7635240" y="1645920"/>
            <a:ext cx="3913632" cy="4526280"/>
          </a:xfrm>
          <a:prstGeom prst="roundRect">
            <a:avLst>
              <a:gd name="adj" fmla="val 1869"/>
            </a:avLst>
          </a:prstGeom>
          <a:solidFill>
            <a:srgbClr val="2C2C46"/>
          </a:solidFill>
          <a:ln w="12700">
            <a:solidFill>
              <a:srgbClr val="3A3A55"/>
            </a:solidFill>
            <a:prstDash val="solid"/>
          </a:ln>
          <a:effectLst>
            <a:outerShdw blurRad="101600" dist="38100" dir="54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26" name="Text 24"/>
          <p:cNvSpPr/>
          <p:nvPr/>
        </p:nvSpPr>
        <p:spPr>
          <a:xfrm>
            <a:off x="7909560" y="1874520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64B5F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技術要點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7909560" y="2331720"/>
            <a:ext cx="3429000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原生 JavaScript，無前端框架</a:t>
            </a:r>
            <a:endParaRPr lang="en-US" sz="135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HTML5 / CSS3 / ES6+</a:t>
            </a:r>
            <a:endParaRPr lang="en-US" sz="135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IIFE 模組化封裝，避免命名衝突</a:t>
            </a:r>
            <a:endParaRPr lang="en-US" sz="135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IndexedDB 以 Promise / async-await 封裝</a:t>
            </a:r>
            <a:endParaRPr lang="en-US" sz="135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陣列處理用 map / filter / reduce / find</a:t>
            </a:r>
            <a:endParaRPr lang="en-US" sz="135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小駝峰命名、中文註解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548640" y="643737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 Quizbank ｜ 期末分組報告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1338560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0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46304" cy="384048"/>
          </a:xfrm>
          <a:prstGeom prst="rect">
            <a:avLst/>
          </a:prstGeom>
          <a:solidFill>
            <a:srgbClr val="64B5F6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" name="Text 1"/>
          <p:cNvSpPr/>
          <p:nvPr/>
        </p:nvSpPr>
        <p:spPr>
          <a:xfrm>
            <a:off x="777240" y="45720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ECEFF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IndexedDB 資料設計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1024128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64B5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 DESIGN · QuizDB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40080" y="1737360"/>
            <a:ext cx="5440680" cy="4343400"/>
          </a:xfrm>
          <a:prstGeom prst="roundRect">
            <a:avLst>
              <a:gd name="adj" fmla="val 1684"/>
            </a:avLst>
          </a:prstGeom>
          <a:solidFill>
            <a:srgbClr val="24243B"/>
          </a:solidFill>
          <a:ln w="12700">
            <a:solidFill>
              <a:srgbClr val="3A3A55"/>
            </a:solidFill>
            <a:prstDash val="solid"/>
          </a:ln>
          <a:effectLst>
            <a:outerShdw blurRad="101600" dist="38100" dir="54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6" name="Text 4"/>
          <p:cNvSpPr/>
          <p:nvPr/>
        </p:nvSpPr>
        <p:spPr>
          <a:xfrm>
            <a:off x="914400" y="196596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64B5F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為什麼選 IndexedDB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914400" y="2468880"/>
            <a:ext cx="498348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純前端要保存大量結構化題庫，localStorage 容量小、且只能存字串</a:t>
            </a:r>
            <a:endParaRPr lang="en-US" sz="14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IndexedDB：容量大、可直接存 JavaScript 物件</a:t>
            </a:r>
            <a:endParaRPr lang="en-US" sz="14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非同步存取，大量讀寫不阻塞畫面</a:t>
            </a:r>
            <a:endParaRPr lang="en-US" sz="14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支援索引（index），篩選與排序更有效率</a:t>
            </a:r>
            <a:endParaRPr lang="en-US" sz="14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資料留存本機，重整或關閉瀏覽器後不遺失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263640" y="1737360"/>
            <a:ext cx="5285232" cy="4343400"/>
          </a:xfrm>
          <a:prstGeom prst="roundRect">
            <a:avLst>
              <a:gd name="adj" fmla="val 1684"/>
            </a:avLst>
          </a:prstGeom>
          <a:solidFill>
            <a:srgbClr val="2C2C46"/>
          </a:solidFill>
          <a:ln w="12700">
            <a:solidFill>
              <a:srgbClr val="3A3A55"/>
            </a:solidFill>
            <a:prstDash val="solid"/>
          </a:ln>
          <a:effectLst>
            <a:outerShdw blurRad="101600" dist="38100" dir="54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9" name="Text 7"/>
          <p:cNvSpPr/>
          <p:nvPr/>
        </p:nvSpPr>
        <p:spPr>
          <a:xfrm>
            <a:off x="6537960" y="1938528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81C78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資料結構與存取層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6537960" y="2395728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 Store：</a:t>
            </a:r>
            <a:r>
              <a:rPr lang="en-US" sz="1250" b="1" dirty="0">
                <a:solidFill>
                  <a:srgbClr val="81C7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questions</a:t>
            </a:r>
            <a:r>
              <a:rPr lang="en-US" sz="125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（keyPath: id 自動遞增）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6537960" y="274320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索引 index：</a:t>
            </a:r>
            <a:r>
              <a:rPr lang="en-US" sz="1150" dirty="0">
                <a:solidFill>
                  <a:srgbClr val="ECEF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questionBank · questionNumber · correct · fail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537960" y="3246120"/>
            <a:ext cx="4754880" cy="0"/>
          </a:xfrm>
          <a:prstGeom prst="line">
            <a:avLst/>
          </a:prstGeom>
          <a:noFill/>
          <a:ln w="12700">
            <a:solidFill>
              <a:srgbClr val="3A3A55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3" name="Text 11"/>
          <p:cNvSpPr/>
          <p:nvPr/>
        </p:nvSpPr>
        <p:spPr>
          <a:xfrm>
            <a:off x="6537960" y="3310128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64B5F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QuizDB 資料層　— 以 Promise 封裝原生 API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537960" y="3730752"/>
            <a:ext cx="48006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spcAft>
                <a:spcPts val="700"/>
              </a:spcAft>
              <a:buNone/>
            </a:pPr>
            <a:r>
              <a:rPr lang="en-US" sz="1300" dirty="0">
                <a:solidFill>
                  <a:srgbClr val="81C7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init() · getAll() · getBanks()</a:t>
            </a:r>
            <a:endParaRPr lang="en-US" sz="1300" dirty="0"/>
          </a:p>
          <a:p>
            <a:pPr marL="0" indent="0">
              <a:spcAft>
                <a:spcPts val="700"/>
              </a:spcAft>
              <a:buNone/>
            </a:pPr>
            <a:r>
              <a:rPr lang="en-US" sz="1300" dirty="0">
                <a:solidFill>
                  <a:srgbClr val="81C7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add() · addBatch()</a:t>
            </a:r>
            <a:endParaRPr lang="en-US" sz="1300" dirty="0"/>
          </a:p>
          <a:p>
            <a:pPr marL="0" indent="0">
              <a:spcAft>
                <a:spcPts val="700"/>
              </a:spcAft>
              <a:buNone/>
            </a:pPr>
            <a:r>
              <a:rPr lang="en-US" sz="1300" dirty="0">
                <a:solidFill>
                  <a:srgbClr val="81C7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update() · updateStats()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81C7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resetAllFails() · clearAll()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537960" y="5440680"/>
            <a:ext cx="4800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i="1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四個模組共用同一個資料庫，任一模組寫入，其他模組即時可見。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548640" y="643737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 Quizbank ｜ 期末分組報告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1338560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0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46304" cy="384048"/>
          </a:xfrm>
          <a:prstGeom prst="rect">
            <a:avLst/>
          </a:prstGeom>
          <a:solidFill>
            <a:srgbClr val="64B5F6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" name="Text 1"/>
          <p:cNvSpPr/>
          <p:nvPr/>
        </p:nvSpPr>
        <p:spPr>
          <a:xfrm>
            <a:off x="777240" y="45720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ECEFF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系統設計模型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1024128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64B5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DIAGRAMS · DRAW.IO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48640" y="643737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 Quizbank ｜ 期末分組報告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1338560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0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</a:t>
            </a:r>
            <a:endParaRPr lang="en-US" sz="900" dirty="0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857DB6E1-20E7-35DE-42A1-174F358F3C0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36925" y="1206683"/>
            <a:ext cx="7518150" cy="512129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46304" cy="384048"/>
          </a:xfrm>
          <a:prstGeom prst="rect">
            <a:avLst/>
          </a:prstGeom>
          <a:solidFill>
            <a:srgbClr val="64B5F6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" name="Text 1"/>
          <p:cNvSpPr/>
          <p:nvPr/>
        </p:nvSpPr>
        <p:spPr>
          <a:xfrm>
            <a:off x="777240" y="45720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ECEFF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資安設計與取捨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1024128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64B5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SECURITY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40080" y="1737360"/>
            <a:ext cx="5440680" cy="4343400"/>
          </a:xfrm>
          <a:prstGeom prst="roundRect">
            <a:avLst>
              <a:gd name="adj" fmla="val 1684"/>
            </a:avLst>
          </a:prstGeom>
          <a:solidFill>
            <a:srgbClr val="24243B"/>
          </a:solidFill>
          <a:ln w="12700">
            <a:solidFill>
              <a:srgbClr val="3A3A55"/>
            </a:solidFill>
            <a:prstDash val="solid"/>
          </a:ln>
          <a:effectLst>
            <a:outerShdw blurRad="101600" dist="38100" dir="54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6" name="Text 4"/>
          <p:cNvSpPr/>
          <p:nvPr/>
        </p:nvSpPr>
        <p:spPr>
          <a:xfrm>
            <a:off x="914400" y="196596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81C78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✅  已落實之防護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914400" y="2468880"/>
            <a:ext cx="498348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 匯入前驗證格式（須為陣列），錯誤即攔截</a:t>
            </a:r>
            <a:endParaRPr lang="en-US" sz="14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輸入回填 HTML 屬性時 escapeAttr() 跳脫，防 XSS</a:t>
            </a:r>
            <a:endParaRPr lang="en-US" sz="14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破壞性操作採確認對話框（清空全部二次確認）</a:t>
            </a:r>
            <a:endParaRPr lang="en-US" sz="14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資料僅存本機、不上傳、不蒐集個資（資料最小化）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263640" y="1737360"/>
            <a:ext cx="5285232" cy="4343400"/>
          </a:xfrm>
          <a:prstGeom prst="roundRect">
            <a:avLst>
              <a:gd name="adj" fmla="val 1684"/>
            </a:avLst>
          </a:prstGeom>
          <a:solidFill>
            <a:srgbClr val="2C2C46"/>
          </a:solidFill>
          <a:ln w="12700">
            <a:solidFill>
              <a:srgbClr val="3A3A55"/>
            </a:solidFill>
            <a:prstDash val="solid"/>
          </a:ln>
          <a:effectLst>
            <a:outerShdw blurRad="101600" dist="38100" dir="54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9" name="Text 7"/>
          <p:cNvSpPr/>
          <p:nvPr/>
        </p:nvSpPr>
        <p:spPr>
          <a:xfrm>
            <a:off x="6537960" y="196596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B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⊘  因架構而不適用（主動說明）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6537960" y="2468880"/>
            <a:ext cx="480060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/ Command Injection：無後端與 SQL，使用 IndexedDB 物件存取，無注入面</a:t>
            </a:r>
            <a:endParaRPr lang="en-US" sz="14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密碼政策 / Cookie HttpOnly：無帳號登入、不存密碼或 Token，故不適用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537960" y="4754880"/>
            <a:ext cx="4754880" cy="0"/>
          </a:xfrm>
          <a:prstGeom prst="line">
            <a:avLst/>
          </a:prstGeom>
          <a:noFill/>
          <a:ln w="12700">
            <a:solidFill>
              <a:srgbClr val="3A3A55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2" name="Text 10"/>
          <p:cNvSpPr/>
          <p:nvPr/>
        </p:nvSpPr>
        <p:spPr>
          <a:xfrm>
            <a:off x="6537960" y="489204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64B5F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🛡  部署層建議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537960" y="5349240"/>
            <a:ext cx="4800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 err="1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託管平台啟用</a:t>
            </a:r>
            <a:r>
              <a:rPr lang="en-US" sz="13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HTTPS。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48640" y="643737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 Quizbank ｜ 期末分組報告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11338560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0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46304" cy="384048"/>
          </a:xfrm>
          <a:prstGeom prst="rect">
            <a:avLst/>
          </a:prstGeom>
          <a:solidFill>
            <a:srgbClr val="64B5F6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" name="Text 1"/>
          <p:cNvSpPr/>
          <p:nvPr/>
        </p:nvSpPr>
        <p:spPr>
          <a:xfrm>
            <a:off x="777240" y="45720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ECEFF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部署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1024128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64B5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DEPLOYMENT · GITHUB PAGES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40080" y="1783080"/>
            <a:ext cx="5349240" cy="4160520"/>
          </a:xfrm>
          <a:prstGeom prst="roundRect">
            <a:avLst>
              <a:gd name="adj" fmla="val 1758"/>
            </a:avLst>
          </a:prstGeom>
          <a:solidFill>
            <a:srgbClr val="24243B"/>
          </a:solidFill>
          <a:ln w="12700">
            <a:solidFill>
              <a:srgbClr val="3A3A55"/>
            </a:solidFill>
            <a:prstDash val="solid"/>
          </a:ln>
          <a:effectLst>
            <a:outerShdw blurRad="101600" dist="38100" dir="54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6" name="Text 4"/>
          <p:cNvSpPr/>
          <p:nvPr/>
        </p:nvSpPr>
        <p:spPr>
          <a:xfrm>
            <a:off x="914400" y="201168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64B5F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部署方式：GitHub Pages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914400" y="251460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1C78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chuan13.github.io/frontend-quizbank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914400" y="3063240"/>
            <a:ext cx="4937760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純靜態網站，推送即自動發佈</a:t>
            </a:r>
            <a:endParaRPr lang="en-US" sz="14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僅三個檔案：index.html / app.css / app.js</a:t>
            </a:r>
            <a:endParaRPr lang="en-US" sz="14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無需建置流程、無伺服器與資料庫</a:t>
            </a:r>
            <a:endParaRPr lang="en-US" sz="14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免費託管，並提供 HTTPS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172200" y="1783080"/>
            <a:ext cx="5349240" cy="4160520"/>
          </a:xfrm>
          <a:prstGeom prst="roundRect">
            <a:avLst>
              <a:gd name="adj" fmla="val 1758"/>
            </a:avLst>
          </a:prstGeom>
          <a:solidFill>
            <a:srgbClr val="2C2C46"/>
          </a:solidFill>
          <a:ln w="12700">
            <a:solidFill>
              <a:srgbClr val="3A3A55"/>
            </a:solidFill>
            <a:prstDash val="solid"/>
          </a:ln>
          <a:effectLst>
            <a:outerShdw blurRad="101600" dist="38100" dir="54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10" name="Text 8"/>
          <p:cNvSpPr/>
          <p:nvPr/>
        </p:nvSpPr>
        <p:spPr>
          <a:xfrm>
            <a:off x="6446520" y="201168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B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部署流程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6492240" y="2651760"/>
            <a:ext cx="502920" cy="502920"/>
          </a:xfrm>
          <a:prstGeom prst="ellipse">
            <a:avLst/>
          </a:prstGeom>
          <a:solidFill>
            <a:srgbClr val="FFB74D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2" name="Text 10"/>
          <p:cNvSpPr/>
          <p:nvPr/>
        </p:nvSpPr>
        <p:spPr>
          <a:xfrm>
            <a:off x="6492240" y="26517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B1B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7178040" y="2606040"/>
            <a:ext cx="4160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推送程式碼到 GitHub Repository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492240" y="3520440"/>
            <a:ext cx="502920" cy="502920"/>
          </a:xfrm>
          <a:prstGeom prst="ellipse">
            <a:avLst/>
          </a:prstGeom>
          <a:solidFill>
            <a:srgbClr val="FFB74D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5" name="Text 13"/>
          <p:cNvSpPr/>
          <p:nvPr/>
        </p:nvSpPr>
        <p:spPr>
          <a:xfrm>
            <a:off x="6492240" y="35204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B1B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7178040" y="3474720"/>
            <a:ext cx="4160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Settings → Pages 選定發佈分支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492240" y="4389120"/>
            <a:ext cx="502920" cy="502920"/>
          </a:xfrm>
          <a:prstGeom prst="ellipse">
            <a:avLst/>
          </a:prstGeom>
          <a:solidFill>
            <a:srgbClr val="FFB74D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18" name="Text 16"/>
          <p:cNvSpPr/>
          <p:nvPr/>
        </p:nvSpPr>
        <p:spPr>
          <a:xfrm>
            <a:off x="6492240" y="43891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B1B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7178040" y="4343400"/>
            <a:ext cx="4160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自動建置並發佈，取得 HTTPS 網址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446520" y="5349240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i="1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純前端三檔，部署近乎零成本；資料存於使用者瀏覽器，伺服器端不留任何資料。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548640" y="643737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 Quizbank ｜ 期末分組報告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1338560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0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46304" cy="384048"/>
          </a:xfrm>
          <a:prstGeom prst="rect">
            <a:avLst/>
          </a:prstGeom>
          <a:solidFill>
            <a:srgbClr val="64B5F6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" name="Text 1"/>
          <p:cNvSpPr/>
          <p:nvPr/>
        </p:nvSpPr>
        <p:spPr>
          <a:xfrm>
            <a:off x="777240" y="45720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ECEFF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成果總結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1024128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64B5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RESULTS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40080" y="1828800"/>
            <a:ext cx="2560320" cy="2103120"/>
          </a:xfrm>
          <a:prstGeom prst="roundRect">
            <a:avLst>
              <a:gd name="adj" fmla="val 3478"/>
            </a:avLst>
          </a:prstGeom>
          <a:solidFill>
            <a:srgbClr val="24243B"/>
          </a:solidFill>
          <a:ln w="12700">
            <a:solidFill>
              <a:srgbClr val="3A3A55"/>
            </a:solidFill>
            <a:prstDash val="solid"/>
          </a:ln>
          <a:effectLst>
            <a:outerShdw blurRad="101600" dist="38100" dir="54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6" name="Text 4"/>
          <p:cNvSpPr/>
          <p:nvPr/>
        </p:nvSpPr>
        <p:spPr>
          <a:xfrm>
            <a:off x="640080" y="2057400"/>
            <a:ext cx="2560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000" b="1" dirty="0">
                <a:solidFill>
                  <a:srgbClr val="64B5F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5000" dirty="0"/>
          </a:p>
        </p:txBody>
      </p:sp>
      <p:sp>
        <p:nvSpPr>
          <p:cNvPr id="7" name="Text 5"/>
          <p:cNvSpPr/>
          <p:nvPr/>
        </p:nvSpPr>
        <p:spPr>
          <a:xfrm>
            <a:off x="640080" y="320040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功能模組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3383280" y="1828800"/>
            <a:ext cx="2560320" cy="2103120"/>
          </a:xfrm>
          <a:prstGeom prst="roundRect">
            <a:avLst>
              <a:gd name="adj" fmla="val 3478"/>
            </a:avLst>
          </a:prstGeom>
          <a:solidFill>
            <a:srgbClr val="24243B"/>
          </a:solidFill>
          <a:ln w="12700">
            <a:solidFill>
              <a:srgbClr val="3A3A55"/>
            </a:solidFill>
            <a:prstDash val="solid"/>
          </a:ln>
          <a:effectLst>
            <a:outerShdw blurRad="101600" dist="38100" dir="54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9" name="Text 7"/>
          <p:cNvSpPr/>
          <p:nvPr/>
        </p:nvSpPr>
        <p:spPr>
          <a:xfrm>
            <a:off x="3383280" y="2057400"/>
            <a:ext cx="2560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000" b="1" dirty="0">
                <a:solidFill>
                  <a:srgbClr val="81C78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5000" dirty="0"/>
          </a:p>
        </p:txBody>
      </p:sp>
      <p:sp>
        <p:nvSpPr>
          <p:cNvPr id="10" name="Text 8"/>
          <p:cNvSpPr/>
          <p:nvPr/>
        </p:nvSpPr>
        <p:spPr>
          <a:xfrm>
            <a:off x="3383280" y="320040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單頁 SPA / 3 檔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126480" y="1828800"/>
            <a:ext cx="2560320" cy="2103120"/>
          </a:xfrm>
          <a:prstGeom prst="roundRect">
            <a:avLst>
              <a:gd name="adj" fmla="val 3478"/>
            </a:avLst>
          </a:prstGeom>
          <a:solidFill>
            <a:srgbClr val="24243B"/>
          </a:solidFill>
          <a:ln w="12700">
            <a:solidFill>
              <a:srgbClr val="3A3A55"/>
            </a:solidFill>
            <a:prstDash val="solid"/>
          </a:ln>
          <a:effectLst>
            <a:outerShdw blurRad="101600" dist="38100" dir="54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12" name="Text 10"/>
          <p:cNvSpPr/>
          <p:nvPr/>
        </p:nvSpPr>
        <p:spPr>
          <a:xfrm>
            <a:off x="6126480" y="2057400"/>
            <a:ext cx="2560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000" b="1" dirty="0">
                <a:solidFill>
                  <a:srgbClr val="FFB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endParaRPr lang="en-US" sz="5000" dirty="0"/>
          </a:p>
        </p:txBody>
      </p:sp>
      <p:sp>
        <p:nvSpPr>
          <p:cNvPr id="13" name="Text 11"/>
          <p:cNvSpPr/>
          <p:nvPr/>
        </p:nvSpPr>
        <p:spPr>
          <a:xfrm>
            <a:off x="6126480" y="320040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後端伺服器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8869680" y="1828800"/>
            <a:ext cx="2560320" cy="2103120"/>
          </a:xfrm>
          <a:prstGeom prst="roundRect">
            <a:avLst>
              <a:gd name="adj" fmla="val 3478"/>
            </a:avLst>
          </a:prstGeom>
          <a:solidFill>
            <a:srgbClr val="24243B"/>
          </a:solidFill>
          <a:ln w="12700">
            <a:solidFill>
              <a:srgbClr val="3A3A55"/>
            </a:solidFill>
            <a:prstDash val="solid"/>
          </a:ln>
          <a:effectLst>
            <a:outerShdw blurRad="101600" dist="38100" dir="54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15" name="Text 13"/>
          <p:cNvSpPr/>
          <p:nvPr/>
        </p:nvSpPr>
        <p:spPr>
          <a:xfrm>
            <a:off x="8869680" y="2057400"/>
            <a:ext cx="2560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000" b="1" dirty="0">
                <a:solidFill>
                  <a:srgbClr val="E5737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100%</a:t>
            </a:r>
            <a:endParaRPr lang="en-US" sz="5000" dirty="0"/>
          </a:p>
        </p:txBody>
      </p:sp>
      <p:sp>
        <p:nvSpPr>
          <p:cNvPr id="16" name="Text 14"/>
          <p:cNvSpPr/>
          <p:nvPr/>
        </p:nvSpPr>
        <p:spPr>
          <a:xfrm>
            <a:off x="8869680" y="320040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本機資料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40080" y="4297680"/>
            <a:ext cx="10881360" cy="1783080"/>
          </a:xfrm>
          <a:prstGeom prst="roundRect">
            <a:avLst>
              <a:gd name="adj" fmla="val 4103"/>
            </a:avLst>
          </a:prstGeom>
          <a:solidFill>
            <a:srgbClr val="2C2C46"/>
          </a:solidFill>
          <a:ln w="12700">
            <a:solidFill>
              <a:srgbClr val="3A3A55"/>
            </a:solidFill>
            <a:prstDash val="solid"/>
          </a:ln>
          <a:effectLst>
            <a:outerShdw blurRad="101600" dist="38100" dir="54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18" name="Text 16"/>
          <p:cNvSpPr/>
          <p:nvPr/>
        </p:nvSpPr>
        <p:spPr>
          <a:xfrm>
            <a:off x="914400" y="4480560"/>
            <a:ext cx="10332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64B5F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重點回顧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914400" y="4937760"/>
            <a:ext cx="103327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完成測驗、題庫管理、JSON 匯入、狀態維護四大功能，共用單一 IndexedDB</a:t>
            </a:r>
            <a:endParaRPr lang="en-US" sz="13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50" dirty="0" err="1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提供完整需求規格書與設計</a:t>
            </a:r>
            <a:r>
              <a:rPr lang="zh-TW" altLang="en-US" sz="1350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模型</a:t>
            </a:r>
            <a:r>
              <a:rPr lang="en-US" sz="1350" dirty="0">
                <a:solidFill>
                  <a:srgbClr val="ECEF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圖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548640" y="643737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 Quizbank ｜ 期末分組報告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1338560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0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212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2191695" cy="36576"/>
          </a:xfrm>
          <a:prstGeom prst="rect">
            <a:avLst/>
          </a:prstGeom>
          <a:solidFill>
            <a:srgbClr val="3A3A55"/>
          </a:solidFill>
          <a:ln/>
        </p:spPr>
        <p:txBody>
          <a:bodyPr/>
          <a:lstStyle/>
          <a:p>
            <a:endParaRPr lang="zh-TW" altLang="en-US"/>
          </a:p>
        </p:txBody>
      </p:sp>
      <p:sp>
        <p:nvSpPr>
          <p:cNvPr id="3" name="Text 1"/>
          <p:cNvSpPr/>
          <p:nvPr/>
        </p:nvSpPr>
        <p:spPr>
          <a:xfrm>
            <a:off x="0" y="2011680"/>
            <a:ext cx="1219169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200" b="1" dirty="0">
                <a:solidFill>
                  <a:srgbClr val="ECEFF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 You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0" y="3200400"/>
            <a:ext cx="121916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kern="0" spc="400" dirty="0">
                <a:solidFill>
                  <a:srgbClr val="64B5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 &amp; A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0" y="4114800"/>
            <a:ext cx="121916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9AA0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chuan13.github.io/frontend-quizbank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0" y="49377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📝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5349240" y="49377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📚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6126480" y="49377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📥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6903720" y="49377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⚙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7680960" y="49377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️</a:t>
            </a:r>
            <a:endParaRPr lang="en-US" sz="2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28</TotalTime>
  <Words>858</Words>
  <Application>Microsoft Office PowerPoint</Application>
  <PresentationFormat>寬螢幕</PresentationFormat>
  <Paragraphs>260</Paragraphs>
  <Slides>16</Slides>
  <Notes>16</Notes>
  <HiddenSlides>0</HiddenSlides>
  <MMClips>0</MMClips>
  <ScaleCrop>false</ScaleCrop>
  <HeadingPairs>
    <vt:vector size="6" baseType="variant">
      <vt:variant>
        <vt:lpstr>使用字型</vt:lpstr>
      </vt:variant>
      <vt:variant>
        <vt:i4>5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16</vt:i4>
      </vt:variant>
    </vt:vector>
  </HeadingPairs>
  <TitlesOfParts>
    <vt:vector size="22" baseType="lpstr">
      <vt:lpstr>微軟正黑體</vt:lpstr>
      <vt:lpstr>Arial</vt:lpstr>
      <vt:lpstr>Calibri</vt:lpstr>
      <vt:lpstr>Consolas</vt:lpstr>
      <vt:lpstr>Trebuchet MS</vt:lpstr>
      <vt:lpstr>Office Theme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期末報告 — Frontend Quizbank</dc:title>
  <dc:subject>PptxGenJS Presentation</dc:subject>
  <dc:creator>Frontend Quizbank Team</dc:creator>
  <cp:lastModifiedBy>李詮彥</cp:lastModifiedBy>
  <cp:revision>6</cp:revision>
  <dcterms:created xsi:type="dcterms:W3CDTF">2026-06-02T13:58:29Z</dcterms:created>
  <dcterms:modified xsi:type="dcterms:W3CDTF">2026-06-07T08:21:12Z</dcterms:modified>
</cp:coreProperties>
</file>